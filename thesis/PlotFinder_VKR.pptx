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4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Сценарий A (минимум)</c:v>
                </c:pt>
              </c:strCache>
            </c:strRef>
          </c:tx>
          <c:spPr>
            <a:ln w="38100" cap="flat">
              <a:solidFill>
                <a:srgbClr val="BA7517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BA7517"/>
              </a:solidFill>
              <a:ln w="9525" cap="flat">
                <a:solidFill>
                  <a:srgbClr val="BA7517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-53.5</c:v>
                </c:pt>
                <c:pt idx="1">
                  <c:v>168.3</c:v>
                </c:pt>
                <c:pt idx="2">
                  <c:v>952.4</c:v>
                </c:pt>
                <c:pt idx="3">
                  <c:v>3091.4</c:v>
                </c:pt>
                <c:pt idx="4">
                  <c:v>7312.2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7BA-439F-BF0F-021F992242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Сценарий B (целевой)</c:v>
                </c:pt>
              </c:strCache>
            </c:strRef>
          </c:tx>
          <c:spPr>
            <a:ln w="3810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Год 1</c:v>
                </c:pt>
                <c:pt idx="1">
                  <c:v>Год 2</c:v>
                </c:pt>
                <c:pt idx="2">
                  <c:v>Год 3</c:v>
                </c:pt>
                <c:pt idx="3">
                  <c:v>Год 4</c:v>
                </c:pt>
                <c:pt idx="4">
                  <c:v>Год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-5.5</c:v>
                </c:pt>
                <c:pt idx="1">
                  <c:v>420.3</c:v>
                </c:pt>
                <c:pt idx="2">
                  <c:v>1924.4</c:v>
                </c:pt>
                <c:pt idx="3">
                  <c:v>5753</c:v>
                </c:pt>
                <c:pt idx="4">
                  <c:v>13475.4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7BA-439F-BF0F-021F992242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CA3AF"/>
                    </a:solidFill>
                    <a:latin typeface="Arial"/>
                  </a:defRPr>
                </a:pPr>
                <a:r>
                  <a:rPr lang="ru-RU" sz="900" b="0" i="0" u="none" strike="noStrike">
                    <a:solidFill>
                      <a:srgbClr val="9CA3AF"/>
                    </a:solidFill>
                    <a:latin typeface="Arial"/>
                  </a:rPr>
                  <a:t>тыс. ₽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454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hyperlink" Target="https://drive.google.com/file/d/190EuahloIxts7CiC9IPpziTtsW_EdhVb/view?usp=sharing" TargetMode="External"/><Relationship Id="rId12" Type="http://schemas.openxmlformats.org/officeDocument/2006/relationships/hyperlink" Target="https://drive.google.com/file/d/1XIGZ7mvA877CJZNSMc5ZIb8COeNRVNTx/view?usp=drive_lin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.png"/><Relationship Id="rId5" Type="http://schemas.openxmlformats.org/officeDocument/2006/relationships/hyperlink" Target="https://github.com/AleksandrVNikolaev/plotfinder.git" TargetMode="External"/><Relationship Id="rId10" Type="http://schemas.openxmlformats.org/officeDocument/2006/relationships/hyperlink" Target="http://aleksandrvnikolaev-22756.bubbleapps.io/" TargetMode="External"/><Relationship Id="rId4" Type="http://schemas.openxmlformats.org/officeDocument/2006/relationships/image" Target="../media/image28.png"/><Relationship Id="rId9" Type="http://schemas.openxmlformats.org/officeDocument/2006/relationships/hyperlink" Target="NU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исследовательский университет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«Высшая школа экономики»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Факультет права · Магистерская программа «ЛигалТех»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166360" y="1828800"/>
            <a:ext cx="1828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веб-сервиса размещения и поиска объявлений</a:t>
            </a:r>
            <a:endParaRPr lang="en-US" sz="2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купле-продаже земельных участков с интеграцией данных Росреестра</a:t>
            </a:r>
            <a:endParaRPr lang="en-US" sz="22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функционалом анализа юридических рисков совершения сделок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 Web Service for Posting and Searching Land Sale Listings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Rosreestr Data Integration and Legal Risk Analysis Functionality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5120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kern="0" spc="100" dirty="0">
                <a:solidFill>
                  <a:srgbClr val="9CA3AF"/>
                </a:solidFill>
              </a:rPr>
              <a:t>Студент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Николаев Александр Владиславович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группа МЛИТЕХ 241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51206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kern="0" spc="100" dirty="0">
                <a:solidFill>
                  <a:srgbClr val="9CA3AF"/>
                </a:solidFill>
              </a:rPr>
              <a:t>Научный руководитель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Кочергин Иван Игоревич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kern="0" spc="100" dirty="0">
                <a:solidFill>
                  <a:srgbClr val="9CA3AF"/>
                </a:solidFill>
              </a:rPr>
              <a:t>Рецензент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</a:rPr>
              <a:t>Кобылкин Никита Николаевич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6400800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 ·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64768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подготовке работы использованы: ChatGPT (OpenAI), Claude (Anthropic), Qwen3-32B (Alibaba/OpenRouter), Gamma, Gemini 2.5 Flash Image, Bubble</a:t>
            </a:r>
            <a:r>
              <a:rPr lang="ru-RU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 </a:t>
            </a:r>
            <a:r>
              <a:rPr lang="en-US" sz="26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рынка</a:t>
            </a: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6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сделок</a:t>
            </a:r>
            <a:r>
              <a:rPr lang="ru-RU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земельными участками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из этих проблем ведёт к финансовым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потерям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риску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утрат</a:t>
            </a:r>
            <a:r>
              <a:rPr lang="ru-RU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права собственности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840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риск мошенничества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23317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приговоров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мошенничеств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недвижимостью в 2024 году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касались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сделок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земельными участками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Ущерб от мошенничества с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дарением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2,61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1554480"/>
            <a:ext cx="3840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63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 и дорого вручную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09160" y="233172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юридическая проверка участка стоит 15 000–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30 000 ₽ и занимает 5–14 рабочих дней. Часовая ставка юриста по земле в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Москве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5 000–15 000 ₽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931920"/>
            <a:ext cx="3840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605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 данные ЕГРН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" y="47091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 получает 5–15 страниц PDF без объяснения, что значат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вид разрешённого использования земельного участка (далее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ВРИ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,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зона с особыми условиями использования территорий (далее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ЗОУИТ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санитарно-защитная зона (далее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СЗЗ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обременения. С 1 января 2025 тарифы Росреестра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удвоились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480560" y="3931920"/>
            <a:ext cx="3840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1605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 земли не покрыта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709160" y="4709160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Универсальные сервисы проверяют квартиры. ВРИ, ЗОУИТ, СЗЗ, категория земель остаются вне фокуса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массовых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595360" y="1554480"/>
            <a:ext cx="3108960" cy="45720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5"/>
          <p:cNvSpPr/>
          <p:nvPr/>
        </p:nvSpPr>
        <p:spPr>
          <a:xfrm>
            <a:off x="8823960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882396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млн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882396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сделок с землёй в 2024 году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823960" y="3108960"/>
            <a:ext cx="26517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19"/>
          <p:cNvSpPr/>
          <p:nvPr/>
        </p:nvSpPr>
        <p:spPr>
          <a:xfrm>
            <a:off x="8961120" y="31821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89611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+89% за 5 лет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8823960" y="402336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2"/>
          <p:cNvSpPr/>
          <p:nvPr/>
        </p:nvSpPr>
        <p:spPr>
          <a:xfrm>
            <a:off x="8961120" y="4096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на проверку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96112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896112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просят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</a:t>
            </a:r>
            <a:r>
              <a:rPr lang="ru-RU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идическую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проверку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совершении</a:t>
            </a: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сделк</a:t>
            </a:r>
            <a:r>
              <a:rPr lang="ru-RU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BusinesStat / TAdviser / РБК (объём рынка), МВД (мошенничество), Profi.ru (стоимость юристов), Строительная газета (спрос)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PlotFinder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Веб-сервис юридической проверки земельных участков с AI-анализом рисков по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кадастровому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номеру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78638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автоматизирует юридическую проверку земельного участка через интеграцию данных Росреестра, опциональную загрузку выписки ЕГРН и LLM-анализ рисков с интерпретацией ВРИ, ЗОУИТ и обременений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503274" cy="292608"/>
          </a:xfrm>
          <a:prstGeom prst="roundRect">
            <a:avLst>
              <a:gd name="adj" fmla="val 15625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15032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Кадастровый номер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98802" y="2606040"/>
            <a:ext cx="1653235" cy="292608"/>
          </a:xfrm>
          <a:prstGeom prst="roundRect">
            <a:avLst>
              <a:gd name="adj" fmla="val 15625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298802" y="2606040"/>
            <a:ext cx="16532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Выписка ЕГРН (опц.)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1765" y="2606040"/>
            <a:ext cx="1128370" cy="292608"/>
          </a:xfrm>
          <a:prstGeom prst="roundRect">
            <a:avLst>
              <a:gd name="adj" fmla="val 15625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4061765" y="2606040"/>
            <a:ext cx="1128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Риск-профиль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99862" y="2606040"/>
            <a:ext cx="1128370" cy="292608"/>
          </a:xfrm>
          <a:prstGeom prst="roundRect">
            <a:avLst>
              <a:gd name="adj" fmla="val 15625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299862" y="2606040"/>
            <a:ext cx="11283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95360" y="1554480"/>
            <a:ext cx="3108960" cy="15544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77824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77824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ручной проверки: 5 минут вместо 2,5–5 рабочих дней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ПРИМЕНЕНИЯ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2588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Риелтор / агентство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" y="4617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Массовый скрининг 30–500 участков в месяц перед показами и сделками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55778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731520" y="5577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Pro / Business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7680" y="370332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4572000" y="3977640"/>
            <a:ext cx="457200" cy="45720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06908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6636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Частный покупатель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4572000" y="4617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Разовая проверка одного участка перед покупкой загородного дома или земли под ИЖС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572000" y="55778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8"/>
          <p:cNvSpPr/>
          <p:nvPr/>
        </p:nvSpPr>
        <p:spPr>
          <a:xfrm>
            <a:off x="4572000" y="5577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Разовая B2C проверка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8138160" y="3703320"/>
            <a:ext cx="37033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0"/>
          <p:cNvSpPr/>
          <p:nvPr/>
        </p:nvSpPr>
        <p:spPr>
          <a:xfrm>
            <a:off x="8412480" y="3977640"/>
            <a:ext cx="457200" cy="457200"/>
          </a:xfrm>
          <a:prstGeom prst="ellipse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069080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00684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Инвестор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412480" y="4617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Массовая оценка 50+ участков под покупку портфеля земельных активов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412480" y="557784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8412480" y="55778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Corporate + API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скорости: ручная проверка опытным юристом 8–15 часов на стандартный кейс (Profi.ru, Iscons, А/Н Правозем)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адресуемого рынка проверки земельных участков в России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сделки с землёй в РФ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млн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сделок · 2,55 млрд ₽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51460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261872" y="2743200"/>
            <a:ext cx="5705856" cy="914400"/>
          </a:xfrm>
          <a:prstGeom prst="roundRect">
            <a:avLst>
              <a:gd name="adj" fmla="val 10000"/>
            </a:avLst>
          </a:prstGeom>
          <a:solidFill>
            <a:srgbClr val="B5D2EA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1536192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36192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Запрашивают юр.проверку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24528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тыс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224528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· 870 млн ₽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703320"/>
            <a:ext cx="182880" cy="1828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86000" y="393192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8DBCDC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/>
          <p:nvPr/>
        </p:nvSpPr>
        <p:spPr>
          <a:xfrm>
            <a:off x="256032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603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за 5 лет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7472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8,7 тыс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47472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проверок · 13 млн ₽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29600" y="1554480"/>
            <a:ext cx="3474720" cy="4297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850392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РАСЧЁТА</a:t>
            </a:r>
            <a:r>
              <a:rPr lang="ru-RU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503920" y="201630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503920" y="22174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₽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503920" y="251922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</a:t>
            </a:r>
            <a:r>
              <a:rPr lang="ru-RU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подписок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B2C</a:t>
            </a:r>
            <a:r>
              <a:rPr lang="ru-RU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490–2 990 ₽ в пересчёте на проверку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503920" y="293070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TAM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503920" y="31318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 млн сделок/год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503920" y="343362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BusinesStat 2024, +89% за 5 лет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8503920" y="384510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SAM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8503920" y="40462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покупателей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503920" y="434802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запрашивают</a:t>
            </a: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юр.проверку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503920" y="475950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доля SOM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503920" y="49606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1,5% за 5 лет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8503920" y="526242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консервативная оценка, согласована с финмоделью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13 млн ₽/год соответствует целевому сценарию финансовой модели </a:t>
            </a:r>
            <a:r>
              <a:rPr lang="en-US" sz="9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r>
              <a:rPr lang="en-US" sz="900" i="1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</a:t>
            </a: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(10,2 млн ₽), что подтверждает реалистичность плана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конкурентов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 ключевым функциональным и ценовым критериям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704320" cy="3468624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85F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PlotFinder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ДомКлик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Гарантия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ЦИАН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ktotam.pro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ЕГРН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Контур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Фокус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 по кадастровому номеру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Контур участка на карте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Получение данных ЕГРН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AI-интерпретация рисков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Анализ загруженной выписки PDF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Специализация на земле (ВРИ/ЗОУИТ)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B2C ниже 5 000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Юридическая гарантия сделки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66360"/>
            <a:ext cx="3657600" cy="914400"/>
          </a:xfrm>
          <a:prstGeom prst="rect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3"/>
          <p:cNvSpPr/>
          <p:nvPr/>
        </p:nvSpPr>
        <p:spPr>
          <a:xfrm>
            <a:off x="685800" y="521832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544692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490–2 990 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577611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разовую проверку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5166360"/>
            <a:ext cx="3657600" cy="9144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480560" y="521832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 ниша рынка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560" y="544692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1 000–5 000 ₽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480560" y="577611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AI-отчёт по земле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5166360"/>
            <a:ext cx="3657600" cy="9144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8275320" y="521832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Премиум-ручник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75320" y="544692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9 900–84 500 ₽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275320" y="577611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5–14 рабочих дней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«rule» — детерминированный анализ по правилам без LLM. Источники: официальные сайты сервисов, исследование рынка LegalTech 2025–2026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Тарифная сетка: два сценария ценовой политики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 для пилотного тестирования на 30–50 риелторах и 200–500 частных пользователях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цена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Захват рынка, низкий барьер входа, </a:t>
            </a:r>
            <a:r>
              <a:rPr lang="ru-RU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медленный выход к точке безубыточности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РАЗОВАЯ ПРОВЕРКА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547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03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803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1 990 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24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ПОДПИСКА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3 990 ₽/мес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9 900 ₽/мес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010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5010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24 900 ₽/мес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6492240" y="1783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492240" y="1783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09560" y="1783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рекомендованный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цена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 ниша 1 490–2 990 ₽, устойчивая маржа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0175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— РАЗОВАЯ ПРОВЕРКА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₽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547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Стандартный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3547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1 490 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8039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3803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2 990 ₽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92240" y="42245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— ПОДПИСКА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0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5 990 ₽/мес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058400" y="4754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14 900 ₽/мес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92240" y="5010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0" y="5010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39 900 ₽/мес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40080" y="56509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Якоря рынка для обоих сценариев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58704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Снизу: выписка ЕГРН Госуслуги 580 ₽, RealtyCloud 299–990 ₽, Контур.Фокус ЕГРН 1 450 ₽. Сверху: ЦИАН Legal-check 9 900 ₽, М2 от 14 900 ₽, ДомКлик 34 500–84 500 ₽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 требуют валидации в пилоте Q3 2026 на ЦА (риелторы, агентства, частники, юристы сделок)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Экономика для клиента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проверки одного земельного участка вручную и через PlotFinder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PlotFinder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кадастра в ПКК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74904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мин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выписки ЕГРН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9040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 + 1–3 дня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выписки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749040" y="2916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мин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Юридическая проверка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49040" y="3209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9 900 ₽ или 1–3 ч юриста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547872"/>
            <a:ext cx="4937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3152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749040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часа + ожидание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4904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3 000–15 000 ₽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155448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2880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494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PlotFinder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9224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кадастрового номера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50976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49224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выписки (опц.)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509760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492240" y="2916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риск-профиля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509760" y="2916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30–120 сек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492240" y="3209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результата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509760" y="3209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92240" y="3547872"/>
            <a:ext cx="49377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8"/>
          <p:cNvSpPr/>
          <p:nvPr/>
        </p:nvSpPr>
        <p:spPr>
          <a:xfrm>
            <a:off x="649224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9509760" y="3639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мин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49224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B2C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9509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490–2 990 ₽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640080" y="4664556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риелтора при 30 проверках в месяц по подписке Business 14 900 ₽/мес (целевой сценарий)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40080" y="50303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времени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40080" y="53046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ч</a:t>
            </a:r>
            <a:endParaRPr lang="en-US" sz="2600" dirty="0"/>
          </a:p>
        </p:txBody>
      </p:sp>
      <p:sp>
        <p:nvSpPr>
          <p:cNvPr id="40" name="Text 36"/>
          <p:cNvSpPr/>
          <p:nvPr/>
        </p:nvSpPr>
        <p:spPr>
          <a:xfrm>
            <a:off x="3291840" y="50303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Экономия в деньгах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3291840" y="53046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~90 000 ₽</a:t>
            </a:r>
            <a:endParaRPr lang="en-US" sz="2600" dirty="0"/>
          </a:p>
        </p:txBody>
      </p:sp>
      <p:sp>
        <p:nvSpPr>
          <p:cNvPr id="42" name="Text 38"/>
          <p:cNvSpPr/>
          <p:nvPr/>
        </p:nvSpPr>
        <p:spPr>
          <a:xfrm>
            <a:off x="5943600" y="50303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подписки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943600" y="53046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14 900 ₽</a:t>
            </a:r>
            <a:endParaRPr lang="en-US" sz="2600" dirty="0"/>
          </a:p>
        </p:txBody>
      </p:sp>
      <p:sp>
        <p:nvSpPr>
          <p:cNvPr id="44" name="Text 40"/>
          <p:cNvSpPr/>
          <p:nvPr/>
        </p:nvSpPr>
        <p:spPr>
          <a:xfrm>
            <a:off x="8595360" y="50303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клиента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8595360" y="53046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</a:t>
            </a:r>
            <a:endParaRPr lang="en-US" sz="2600" dirty="0"/>
          </a:p>
        </p:txBody>
      </p:sp>
      <p:sp>
        <p:nvSpPr>
          <p:cNvPr id="46" name="Text 4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по средней ставке риелтора 1 500–3 000 ₽/час, 30 проверкам в месяц. ROI 11× при сценарии A с подпиской 9 900 ₽/мес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модель: два сценария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Накопленный финансовый результат при одинаковом росте подписчиков и разной ценовой политике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54864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685800" y="5064885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685800" y="506488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48840" y="506488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минимальная цена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5430645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114800" y="5430645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r>
              <a:rPr lang="en-US" sz="11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</a:t>
            </a: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ru-RU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(конец)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5631813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 CAPEX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0" y="5631813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5832981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Накоплено к </a:t>
            </a:r>
            <a:r>
              <a:rPr lang="ru-RU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0" y="5832981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+7,3 млн ₽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4937760"/>
            <a:ext cx="54864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6446520" y="5064885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446520" y="506488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B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09560" y="506488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цена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46520" y="5430645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875520" y="5430645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Год 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46520" y="5631813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 CAPEX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0" y="5631813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46520" y="5832981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Накоплено к Год 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875520" y="5832981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+13,5 млн ₽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Гипотеза, требует валидации. Финальная ценовая политика — по итогам пилота на 30–50 риелторах в Q3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Трёхслойная архитектура: фронтенд no-code, серверная логика и внешние источники данных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Bubble.io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417320"/>
            <a:ext cx="9235440" cy="11430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2468880" y="1417320"/>
            <a:ext cx="54864" cy="11430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69164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и поиск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8892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Leaflet, ввод кадастрового номера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23560" y="155448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6916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8076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участков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76072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объявлений и фильтры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595360" y="155448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69164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Юридический анализ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73252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с риск-профилем + FileUploader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684097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49440" y="268409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/ REST API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3154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Selectel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468880" y="2971800"/>
            <a:ext cx="9235440" cy="11430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19"/>
          <p:cNvSpPr/>
          <p:nvPr/>
        </p:nvSpPr>
        <p:spPr>
          <a:xfrm>
            <a:off x="2468880" y="2971800"/>
            <a:ext cx="54864" cy="11430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0"/>
          <p:cNvSpPr/>
          <p:nvPr/>
        </p:nvSpPr>
        <p:spPr>
          <a:xfrm>
            <a:off x="2651760" y="310896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24612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10896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27889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/analyze-plot-with-doc и др.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623560" y="310896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324612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8076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извлечение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7607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для выписки ЕГРН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8595360" y="310896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324612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5256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87325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extract_json, fallback, норм. URL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238577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49440" y="4238577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/ REST API + File I/O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45720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457200" y="4983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Cache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2468880" y="4526280"/>
            <a:ext cx="9235440" cy="11430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Shape 33"/>
          <p:cNvSpPr/>
          <p:nvPr/>
        </p:nvSpPr>
        <p:spPr>
          <a:xfrm>
            <a:off x="2468880" y="4526280"/>
            <a:ext cx="54864" cy="11430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Shape 34"/>
          <p:cNvSpPr/>
          <p:nvPr/>
        </p:nvSpPr>
        <p:spPr>
          <a:xfrm>
            <a:off x="2651760" y="466344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800600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3108960" y="4782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NextGIS Toolbox</a:t>
            </a:r>
            <a:endParaRPr lang="en-US" sz="1100" dirty="0"/>
          </a:p>
        </p:txBody>
      </p:sp>
      <p:sp>
        <p:nvSpPr>
          <p:cNvPr id="47" name="Text 36"/>
          <p:cNvSpPr/>
          <p:nvPr/>
        </p:nvSpPr>
        <p:spPr>
          <a:xfrm>
            <a:off x="278892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 и контур по кадастру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5623560" y="466344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4800600"/>
            <a:ext cx="228600" cy="2286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080760" y="4782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51" name="Text 39"/>
          <p:cNvSpPr/>
          <p:nvPr/>
        </p:nvSpPr>
        <p:spPr>
          <a:xfrm>
            <a:off x="576072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 для LLM-анализа</a:t>
            </a:r>
            <a:endParaRPr lang="en-US" sz="1000" dirty="0"/>
          </a:p>
        </p:txBody>
      </p:sp>
      <p:sp>
        <p:nvSpPr>
          <p:cNvPr id="52" name="Shape 40"/>
          <p:cNvSpPr/>
          <p:nvPr/>
        </p:nvSpPr>
        <p:spPr>
          <a:xfrm>
            <a:off x="8595360" y="4663440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2520" y="4800600"/>
            <a:ext cx="228600" cy="228600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9052560" y="4782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кэш</a:t>
            </a:r>
            <a:endParaRPr lang="en-US" sz="1100" dirty="0"/>
          </a:p>
        </p:txBody>
      </p:sp>
      <p:sp>
        <p:nvSpPr>
          <p:cNvPr id="55" name="Text 42"/>
          <p:cNvSpPr/>
          <p:nvPr/>
        </p:nvSpPr>
        <p:spPr>
          <a:xfrm>
            <a:off x="873252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Локальный, /output/geojson/</a:t>
            </a:r>
            <a:endParaRPr lang="en-US" sz="1000" dirty="0"/>
          </a:p>
        </p:txBody>
      </p:sp>
      <p:sp>
        <p:nvSpPr>
          <p:cNvPr id="56" name="Text 43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Сервер: Selectel ru-2a, 2 vCPU / 4 ГБ RAM / 5 ГБ SSD. Стек: Python 3.11, FastAPI, Uvicorn, pdfplumber, requests</a:t>
            </a:r>
            <a:endParaRPr lang="en-US" sz="900" dirty="0"/>
          </a:p>
        </p:txBody>
      </p:sp>
      <p:sp>
        <p:nvSpPr>
          <p:cNvPr id="57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58" name="Text 45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обработки запроса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архитектура: точные детерминированные операции и LLM-анализ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463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Bubble.io — пользователь жмёт «Анализировать»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0120" y="16733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/api/legal/analyze-plot-with-doc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011680"/>
            <a:ext cx="182880" cy="182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2240280"/>
            <a:ext cx="54864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6"/>
          <p:cNvSpPr/>
          <p:nvPr/>
        </p:nvSpPr>
        <p:spPr>
          <a:xfrm>
            <a:off x="457200" y="2240280"/>
            <a:ext cx="54864" cy="324612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4688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Детерминированная часть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8580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точные операции FastAPI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8580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22960" y="3383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Валидация кадастрового номера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22960" y="3611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NextGIS Toolbox → GeoJSON (с кэшем)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" y="38404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Скачивание PDF (нормализация URL)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2296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pdfplumber → текст выписки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" y="4297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Сборка промпта с контекстом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85800" y="4572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ПОСТОБРАБОТКА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" y="4846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extract_json() — устойчивый парсер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22960" y="5074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Валидация структуры ответа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5303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JSON-ответ во фронтенд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7920" y="2240280"/>
            <a:ext cx="54864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0"/>
          <p:cNvSpPr/>
          <p:nvPr/>
        </p:nvSpPr>
        <p:spPr>
          <a:xfrm>
            <a:off x="6217920" y="2240280"/>
            <a:ext cx="54864" cy="324612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46888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24688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LLM-часть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44652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 через OpenRouter, шаг 6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4652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РИСКОВ ПО КАТЕГОРИЯМ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492240" y="33832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675120" y="33832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ВРИ и категория земель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492240" y="36301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675120" y="363016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ЗОУИТ и обременения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6492240" y="38770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6675120" y="38770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прав и переходы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492240" y="41239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6675120" y="41239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Несоответствия данных в выписке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6446520" y="44622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JSON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446520" y="4736592"/>
            <a:ext cx="5029200" cy="658368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4"/>
          <p:cNvSpPr/>
          <p:nvPr/>
        </p:nvSpPr>
        <p:spPr>
          <a:xfrm>
            <a:off x="6583680" y="47823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risk_score: 0–100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summary_one_line: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risks: [{category, description}]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recommendations: [string]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60720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6012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Bubble.io — popup с цветным badge риск-профиля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60120" y="587959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(низкий риск), жёлтый (средний), красный (высокий) + список рисков и рекомендаций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время полного цикла: 30–120 секунд (с PDF: 1,5–2 минуты). Стоимость одного запроса к LLM: ~0,04 ₽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Обоснование выбора каждого компонента архитектуры PlotFinder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273341"/>
              </p:ext>
            </p:extLst>
          </p:nvPr>
        </p:nvGraphicFramePr>
        <p:xfrm>
          <a:off x="457200" y="1417320"/>
          <a:ext cx="11247120" cy="40233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Технология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Обоснование выбора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Bubble.io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no-code платформа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 разработки MVP, встроенные карты Leaflet, авторизация, БД, FileUploader. Альтернатива React + собственный сервер отвергнута из-за временных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ограничений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ВКР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 + Uvicorn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Асинхронный I/O для параллельных запросов к NextGIS и LLM, автодокументация OpenAPI, строгая типизация Pydantic. Альтернативы: Django REST, Flask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GIS-данные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NextGIS Toolbox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геометрия Росреестра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Легальный посредник Росреестра, стабильная доступность, фиксированная цена 6 000 ₽/мес. 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Отказ от использования утилиты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rosreestr2coord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блокировки IP 17.04.2026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LLM-провайдер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единый API к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Доступ к десяткам моделей через единый API, гибкость переключения. Альтернатива GigaChat API привязывает к одной модели и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одному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поставщику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LLM-модель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Qwen3-32B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 качества и цены: 0,04 ₽ за запрос против 1–2 ₽ у GigaChat Pro, поддержка русского и JSON-выхода. Qwen 4B отвергнута: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качество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PDF-парсинг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Python-библиотека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Точное извлечение текста и таблиц из выписок ЕГРН без OCR для текстовых PDF. PyPDF2 хуже работает с табличной структурой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документов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Росреестра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Хостинг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Selectel ru-2a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vCPU / 4 ГБ / 5 ГБ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Российский провайдер (152-ФЗ), фиксированная цена 3 590 ₽/мес. AWS/GCP неприменимы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из-за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санкций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3657600" cy="9144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85800" y="552721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Selectel + NextGIS + Bubble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57558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12 440 ₽/мес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608499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фиксированные затраты MVP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5486400"/>
            <a:ext cx="3657600" cy="9144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480560" y="552721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5 000 запросов в месяц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560" y="57558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₽/мес</a:t>
            </a:r>
            <a:endParaRPr lang="en-US" sz="1600" dirty="0"/>
          </a:p>
        </p:txBody>
      </p:sp>
      <p:sp>
        <p:nvSpPr>
          <p:cNvPr id="4" name="Text 9"/>
          <p:cNvSpPr/>
          <p:nvPr/>
        </p:nvSpPr>
        <p:spPr>
          <a:xfrm>
            <a:off x="4480560" y="608499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затраты на LLM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5486400"/>
            <a:ext cx="3657600" cy="9144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8275320" y="5527215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стека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75320" y="57558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75320" y="608499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компоненты в работе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Ход разработки и возникшие проблемы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стека MVP в ответ на реальные ограничения и реализованные механизмы устойчивости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ПЕРЕХОДЫ СТЕКА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GIS-источник данных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200400" cy="54864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22960" y="235513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25105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rosreestr2coord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69346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скрейпер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2926080"/>
            <a:ext cx="146304" cy="1463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5800" y="3200400"/>
            <a:ext cx="3200400" cy="548640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0"/>
          <p:cNvSpPr/>
          <p:nvPr/>
        </p:nvSpPr>
        <p:spPr>
          <a:xfrm>
            <a:off x="822960" y="322381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22960" y="337926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NextGIS Toolbox API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356214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легальный коммерческий API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" y="3840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апреля 2026: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Росреестр заблокировал IP сервера, скрейпер перестал работать. Переход на платный API дал стабильность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51960" y="169164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9202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LLM-провайдер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480560" y="2331720"/>
            <a:ext cx="3200400" cy="54864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7"/>
          <p:cNvSpPr/>
          <p:nvPr/>
        </p:nvSpPr>
        <p:spPr>
          <a:xfrm>
            <a:off x="4617720" y="235513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617720" y="25105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617720" y="269346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LPU-инференса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2926080"/>
            <a:ext cx="146304" cy="14630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480560" y="3200400"/>
            <a:ext cx="3200400" cy="548640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1"/>
          <p:cNvSpPr/>
          <p:nvPr/>
        </p:nvSpPr>
        <p:spPr>
          <a:xfrm>
            <a:off x="4617720" y="322381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617720" y="337926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617720" y="356214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API к LLM-моделям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480560" y="3840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2026: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недоступен из РФ, проблемы с оплатой. OpenRouter принимает крипту и даёт выбор моделей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046720" y="169164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192024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64108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LLM-модель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275320" y="2331720"/>
            <a:ext cx="3200400" cy="54864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28"/>
          <p:cNvSpPr/>
          <p:nvPr/>
        </p:nvSpPr>
        <p:spPr>
          <a:xfrm>
            <a:off x="8412480" y="235513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8412480" y="25105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 4B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8412480" y="269346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маленькая модель</a:t>
            </a:r>
            <a:endParaRPr lang="en-US" sz="9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926080"/>
            <a:ext cx="146304" cy="146304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8275320" y="3200400"/>
            <a:ext cx="3200400" cy="548640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2"/>
          <p:cNvSpPr/>
          <p:nvPr/>
        </p:nvSpPr>
        <p:spPr>
          <a:xfrm>
            <a:off x="8412480" y="322381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8412480" y="337926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Qwen3-32B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8412480" y="356214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млрд параметров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8275320" y="3840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март 2026: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4B давал поверхностный анализ юр. текстов на русском. Qwen3-32B даёт точные структурированные ответы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457200" y="4937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РЕАЛИЗОВАННЫЕ МЕХАНИЗМЫ УСТОЙЧИВОСТИ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457200" y="5212080"/>
            <a:ext cx="2212848" cy="868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Text 38"/>
          <p:cNvSpPr/>
          <p:nvPr/>
        </p:nvSpPr>
        <p:spPr>
          <a:xfrm>
            <a:off x="640080" y="53035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extract_json()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640080" y="554126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Устойчивый парсер ответа LLM с markdown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2761488" y="5212080"/>
            <a:ext cx="2212848" cy="868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1"/>
          <p:cNvSpPr/>
          <p:nvPr/>
        </p:nvSpPr>
        <p:spPr>
          <a:xfrm>
            <a:off x="2944368" y="53035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fallback_profile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2944368" y="554126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Дефолтный риск-профиль при недоступности LLM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5065776" y="5212080"/>
            <a:ext cx="2212848" cy="868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4"/>
          <p:cNvSpPr/>
          <p:nvPr/>
        </p:nvSpPr>
        <p:spPr>
          <a:xfrm>
            <a:off x="5248656" y="53035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Норм. URL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5248656" y="554126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 Bubble CDN URL префиксом https: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7370064" y="5212080"/>
            <a:ext cx="2212848" cy="868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Text 47"/>
          <p:cNvSpPr/>
          <p:nvPr/>
        </p:nvSpPr>
        <p:spPr>
          <a:xfrm>
            <a:off x="7552944" y="53035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not_found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7552944" y="554126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Корректная обработка несуществующих кадастров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9674352" y="5212080"/>
            <a:ext cx="2212848" cy="868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8" name="Text 50"/>
          <p:cNvSpPr/>
          <p:nvPr/>
        </p:nvSpPr>
        <p:spPr>
          <a:xfrm>
            <a:off x="9857232" y="53035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GeoJSON</a:t>
            </a:r>
            <a:endParaRPr lang="en-US" sz="1100" dirty="0"/>
          </a:p>
        </p:txBody>
      </p:sp>
      <p:sp>
        <p:nvSpPr>
          <p:cNvPr id="59" name="Text 51"/>
          <p:cNvSpPr/>
          <p:nvPr/>
        </p:nvSpPr>
        <p:spPr>
          <a:xfrm>
            <a:off x="9857232" y="5541264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хранение геометрии для экономии API</a:t>
            </a:r>
            <a:endParaRPr lang="en-US" sz="1000" dirty="0"/>
          </a:p>
        </p:txBody>
      </p:sp>
      <p:sp>
        <p:nvSpPr>
          <p:cNvPr id="60" name="Text 5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архитектурное решение принято в ответ на реальную проблему MVP, а не теоретически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инфраструктуры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затрат при росте нагрузки от MVP до корпоративных объёмов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2514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нагрузки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Запросов/мес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NextGIS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Qwen3-32B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Итого/мес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(текущий)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Selectel базовый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3 790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Запуск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Selectel базовый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4 590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Selectel +RAM/CPU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11 590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Корпоративный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Кластер + балансер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17 500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 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3657600" cy="128016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8580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НАГРУЗКИ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MVP (5 тыс) до корпоратива (250 тыс) запросов/мес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4114800"/>
            <a:ext cx="3657600" cy="128016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48056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ЗАТРАТ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8056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×6,5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3 790 ₽/мес до 25 000 ₽/мес — нелинейный экономический рост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4114800"/>
            <a:ext cx="3657600" cy="128016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1"/>
          <p:cNvSpPr/>
          <p:nvPr/>
        </p:nvSpPr>
        <p:spPr>
          <a:xfrm>
            <a:off x="827532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ЗАПРОСА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75320" y="4480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₽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275320" y="5029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в корпоративном сегменте за счёт фиксированных затрат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спроектирована для горизонтального масштабирования: при росте нагрузки добавляется второй сервер за балансером, кэш GeoJSON выносится в Redis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рисками и пределы ответственности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Идентифицированные риски системы и явное определение границ применимости продукта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РИСКАМИ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428556"/>
              </p:ext>
            </p:extLst>
          </p:nvPr>
        </p:nvGraphicFramePr>
        <p:xfrm>
          <a:off x="457200" y="1737360"/>
          <a:ext cx="640080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Вероятн.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Парсинг ответа 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некорректный JSON, галлюцинации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3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Высокая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extract_json(), валидация структуры, fallback_profile при ошибке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Недоступность источника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блокировка IP, падение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Переход на NextGIS Toolbox, кэш GeoJSON, дефолт-профиль при недоступности 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Юридические риски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ошибочная интерпретация ВРИ/ЗОУИТ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A75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Дисклеймер на каждом отчёте, отображение источников, рекомендация юр. консультации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Утечка данных пользователя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данные в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Низкая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9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Удаление временных файлов, хостинг в РФ (152-ФЗ), отсутствие ПДн в кэше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ПРЕДЕЛЫ ОТВЕТСТВЕННОСТИ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6634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223760" y="18745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— это инструмент скрининга перед сделкой. Отчёт носит информационный характер и не заменяет: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68833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3800" y="26517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Юридическую консультацию лицензированного юриста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191256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43800" y="3154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due diligence перед сделкой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69417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3800" y="3657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Государственное юридически значимое заключение</a:t>
            </a:r>
            <a:endParaRPr lang="en-US" sz="1100" dirty="0"/>
          </a:p>
        </p:txBody>
      </p:sp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197096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43800" y="4160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Страхование титула или финансовую гарантию сделки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7223760" y="4754880"/>
            <a:ext cx="4297680" cy="548640"/>
          </a:xfrm>
          <a:prstGeom prst="rect">
            <a:avLst/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1"/>
          <p:cNvSpPr/>
          <p:nvPr/>
        </p:nvSpPr>
        <p:spPr>
          <a:xfrm>
            <a:off x="7360920" y="4846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Дисклеймер отображается в каждом риск-отчёте: отчёт PlotFinder носит информационно-аналитический характер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 к рискам соответствует Концепции регулирования ИИ в РФ до 2030 года: ИИ не заменяет специалиста, а усиливает его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Дорожная карта развития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MVP-подход: на каждом этапе работающий продукт, расширение функционала по приоритетам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645920"/>
            <a:ext cx="365760" cy="3657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57734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508760"/>
            <a:ext cx="640080" cy="6400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57200" y="23317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3"/>
          <p:cNvSpPr/>
          <p:nvPr/>
        </p:nvSpPr>
        <p:spPr>
          <a:xfrm>
            <a:off x="457200" y="2331720"/>
            <a:ext cx="3657600" cy="457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4"/>
          <p:cNvSpPr/>
          <p:nvPr/>
        </p:nvSpPr>
        <p:spPr>
          <a:xfrm>
            <a:off x="6858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2743200" y="253288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6"/>
          <p:cNvSpPr/>
          <p:nvPr/>
        </p:nvSpPr>
        <p:spPr>
          <a:xfrm>
            <a:off x="2743200" y="2532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8580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3697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кадастру и контур на карте Leaflet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39896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703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AI-анализ юридических рисков (Qwen3-32B)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42816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4206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PDF выписки и парсинг pdfplumber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745736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4709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Цветной риск-профиль и рекомендации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48656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00584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Механизмы устойчивости (extract_json, fallback)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4251960" y="23317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14"/>
          <p:cNvSpPr/>
          <p:nvPr/>
        </p:nvSpPr>
        <p:spPr>
          <a:xfrm>
            <a:off x="4251960" y="2331720"/>
            <a:ext cx="3657600" cy="4572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15"/>
          <p:cNvSpPr/>
          <p:nvPr/>
        </p:nvSpPr>
        <p:spPr>
          <a:xfrm>
            <a:off x="44805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>
            <a:off x="6537960" y="253288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E6F1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17"/>
          <p:cNvSpPr/>
          <p:nvPr/>
        </p:nvSpPr>
        <p:spPr>
          <a:xfrm>
            <a:off x="6537960" y="2532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448056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(июль — сентябрь)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236976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80060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тарифов на 30–50 риелторах</a:t>
            </a:r>
            <a:endParaRPr lang="en-US" sz="11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739896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800600" y="3703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для растровых PDF (pytesseract)</a:t>
            </a:r>
            <a:endParaRPr lang="en-US" sz="11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242816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4800600" y="4206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истории анализов</a:t>
            </a:r>
            <a:endParaRPr lang="en-US" sz="11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745736"/>
            <a:ext cx="164592" cy="16459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800600" y="4709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и собственный домен</a:t>
            </a:r>
            <a:endParaRPr lang="en-US" sz="11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5248656"/>
            <a:ext cx="164592" cy="16459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480060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прогресса AI-анализа</a:t>
            </a:r>
            <a:endParaRPr lang="en-US" sz="1100" dirty="0"/>
          </a:p>
        </p:txBody>
      </p:sp>
      <p:sp>
        <p:nvSpPr>
          <p:cNvPr id="39" name="Shape 24"/>
          <p:cNvSpPr/>
          <p:nvPr/>
        </p:nvSpPr>
        <p:spPr>
          <a:xfrm>
            <a:off x="8046720" y="23317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25"/>
          <p:cNvSpPr/>
          <p:nvPr/>
        </p:nvSpPr>
        <p:spPr>
          <a:xfrm>
            <a:off x="8046720" y="2331720"/>
            <a:ext cx="3657600" cy="45720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26"/>
          <p:cNvSpPr/>
          <p:nvPr/>
        </p:nvSpPr>
        <p:spPr>
          <a:xfrm>
            <a:off x="82753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400" dirty="0"/>
          </a:p>
        </p:txBody>
      </p:sp>
      <p:sp>
        <p:nvSpPr>
          <p:cNvPr id="42" name="Shape 27"/>
          <p:cNvSpPr/>
          <p:nvPr/>
        </p:nvSpPr>
        <p:spPr>
          <a:xfrm>
            <a:off x="10332720" y="253288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28"/>
          <p:cNvSpPr/>
          <p:nvPr/>
        </p:nvSpPr>
        <p:spPr>
          <a:xfrm>
            <a:off x="10332720" y="253288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000" dirty="0"/>
          </a:p>
        </p:txBody>
      </p:sp>
      <p:sp>
        <p:nvSpPr>
          <p:cNvPr id="44" name="Text 29"/>
          <p:cNvSpPr/>
          <p:nvPr/>
        </p:nvSpPr>
        <p:spPr>
          <a:xfrm>
            <a:off x="8275320" y="2834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2027</a:t>
            </a:r>
            <a:endParaRPr lang="en-US" sz="100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236976"/>
            <a:ext cx="164592" cy="164592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859536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ЗОУИТ через NextGIS pzz_report</a:t>
            </a:r>
            <a:endParaRPr lang="en-US" sz="11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739896"/>
            <a:ext cx="164592" cy="164592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8595360" y="3703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PDF-отчёта (WeasyPrint)</a:t>
            </a:r>
            <a:endParaRPr lang="en-US" sz="1100" dirty="0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242816"/>
            <a:ext cx="164592" cy="164592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8595360" y="4206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для интеграции с CRM агентств</a:t>
            </a:r>
            <a:endParaRPr lang="en-US" sz="1100" dirty="0"/>
          </a:p>
        </p:txBody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745736"/>
            <a:ext cx="164592" cy="164592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8595360" y="47091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пилот с агентствами недвижимости</a:t>
            </a:r>
            <a:endParaRPr lang="en-US" sz="11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5248656"/>
            <a:ext cx="164592" cy="164592"/>
          </a:xfrm>
          <a:prstGeom prst="rect">
            <a:avLst/>
          </a:prstGeom>
        </p:spPr>
      </p:pic>
      <p:sp>
        <p:nvSpPr>
          <p:cNvPr id="54" name="Text 34"/>
          <p:cNvSpPr/>
          <p:nvPr/>
        </p:nvSpPr>
        <p:spPr>
          <a:xfrm>
            <a:off x="8595360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iOS / Android</a:t>
            </a:r>
            <a:endParaRPr lang="en-US" sz="1100" dirty="0"/>
          </a:p>
        </p:txBody>
      </p:sp>
      <p:sp>
        <p:nvSpPr>
          <p:cNvPr id="55" name="Text 35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этапе MVP остаётся работающим продуктом: пользователь не ждёт «полной версии», а получает ценность сразу</a:t>
            </a:r>
            <a:endParaRPr lang="en-US" sz="900" dirty="0"/>
          </a:p>
        </p:txBody>
      </p:sp>
      <p:sp>
        <p:nvSpPr>
          <p:cNvPr id="56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57" name="Text 37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компетенций программы «ЛигалТех»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освоенных дисциплин магистратуры с архитектурными решениями PlotFinder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28188"/>
              </p:ext>
            </p:extLst>
          </p:nvPr>
        </p:nvGraphicFramePr>
        <p:xfrm>
          <a:off x="457200" y="1417320"/>
          <a:ext cx="11247120" cy="4663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Компетенция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Содержание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Применение в PlotFinder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и LLM в праве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Применение языковых моделей для анализа юридических текстов, промпт-инжиниринг, оценка точности и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галлюцинаций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Промпт для Qwen3-32B со структурированным JSON-выходом, валидация ответа через extract_json(), fallback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галлюцинациях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Защита персональных данных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152-ФЗ «О персональных данных», требования к локализации, обработке и хранению,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согласие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пользователя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Хостинг в РФ (Selectel), удаление временных PDF после обработки, отсутствие ПДн в кэше GeoJSON,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явный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дисклеймер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Цифровое право и реестры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Работа с государственными реестрами, электронные выписки ЕГРН, статус ЭЦП, юридическая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значимость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документов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Интеграция с Росреестром через NextGIS Toolbox API, парсинг выписок ЕГРН, корректное позиционирование как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информационного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инструмента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LegalTech-проектами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MVP-методология, итеративная разработка, управление техническими и продуктовыми рисками,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дорожные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карты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Актуализированное ТЗ с backlog, реальная эволюция стека (3 ключевых перехода), дорожная карта Этап 1–3,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таблица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рисков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LegalDesign и 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Понятная визуальная подача юридической информации для непрофессиональных пользователей, снижение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когнитивной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нагрузки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Цветной риск-профиль (зелёный / жёлтый / красный), summary в одну строку, 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понятные</a:t>
                      </a: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формулировки рисков и </a:t>
                      </a:r>
                      <a:r>
                        <a:rPr lang="en-US" sz="1000" dirty="0" err="1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рекомендаций</a:t>
                      </a:r>
                      <a:r>
                        <a:rPr lang="ru-RU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— практическое применение междисциплинарных компетенций программы «ЛигалТех» НИУ ВШЭ на стыке права, технологий и продуктового мышления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Пользовательские сценарии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основных пути пользователя: поиск участка и юридический анализ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1 · ПОИСК УЧАСТКА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640080" y="1947672"/>
            <a:ext cx="128016" cy="128016"/>
          </a:xfrm>
          <a:prstGeom prst="ellipse">
            <a:avLst/>
          </a:prstGeom>
          <a:solidFill>
            <a:srgbClr val="F0959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804672" y="1947672"/>
            <a:ext cx="128016" cy="128016"/>
          </a:xfrm>
          <a:prstGeom prst="ellipse">
            <a:avLst/>
          </a:prstGeom>
          <a:solidFill>
            <a:srgbClr val="FAC7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969264" y="194767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280160" y="1901952"/>
            <a:ext cx="457200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371600" y="19019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plotfinder.ru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5120640" cy="36576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39:05:030615:27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46320" y="2377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880360"/>
            <a:ext cx="5212080" cy="1691640"/>
          </a:xfrm>
          <a:prstGeom prst="rect">
            <a:avLst/>
          </a:prstGeom>
          <a:solidFill>
            <a:srgbClr val="E8EEE5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640080" y="3429000"/>
            <a:ext cx="5120640" cy="0"/>
          </a:xfrm>
          <a:prstGeom prst="line">
            <a:avLst/>
          </a:prstGeom>
          <a:noFill/>
          <a:ln w="6350">
            <a:solidFill>
              <a:srgbClr val="C5D0B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5120640" cy="0"/>
          </a:xfrm>
          <a:prstGeom prst="line">
            <a:avLst/>
          </a:prstGeom>
          <a:noFill/>
          <a:ln w="6350">
            <a:solidFill>
              <a:srgbClr val="C5D0B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2011680" y="2880360"/>
            <a:ext cx="0" cy="1691640"/>
          </a:xfrm>
          <a:prstGeom prst="line">
            <a:avLst/>
          </a:prstGeom>
          <a:noFill/>
          <a:ln w="6350">
            <a:solidFill>
              <a:srgbClr val="C5D0B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3840480" y="2880360"/>
            <a:ext cx="0" cy="1691640"/>
          </a:xfrm>
          <a:prstGeom prst="line">
            <a:avLst/>
          </a:prstGeom>
          <a:noFill/>
          <a:ln w="6350">
            <a:solidFill>
              <a:srgbClr val="C5D0BC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2286000" y="3337560"/>
            <a:ext cx="1463040" cy="731520"/>
          </a:xfrm>
          <a:prstGeom prst="rect">
            <a:avLst/>
          </a:prstGeom>
          <a:solidFill>
            <a:srgbClr val="1D9E75">
              <a:alpha val="30000"/>
            </a:srgbClr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2944368" y="3639312"/>
            <a:ext cx="146304" cy="128016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640080" y="4709160"/>
            <a:ext cx="5212080" cy="86868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777240" y="4800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86000" y="48006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1 240 м²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77240" y="5047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286000" y="504748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Земли нас.пунктов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77240" y="5294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ВРИ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286000" y="52943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ИЖС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кадастровый номер и сразу видит контур участка на карте, площадь, категорию и ВРИ. Время отклика: ~2 секунды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17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2 · ЮРИДИЧЕСКИЙ АНАЛИЗ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17920" y="1783080"/>
            <a:ext cx="54864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644652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участка 39:05:030615:27</a:t>
            </a:r>
            <a:endParaRPr lang="en-US" sz="12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840" y="2029968"/>
            <a:ext cx="164592" cy="16459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446520" y="23317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2"/>
          <p:cNvSpPr/>
          <p:nvPr/>
        </p:nvSpPr>
        <p:spPr>
          <a:xfrm>
            <a:off x="64465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риск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0010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Score: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89154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100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644652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пригоден для ИЖС, но обнаружены признаки ограничений — требуется проверка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6446520" y="3200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ВЫЯВЛЕННЫЕ РИСКИ</a:t>
            </a:r>
            <a:endParaRPr lang="en-US" sz="900" dirty="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502152"/>
            <a:ext cx="146304" cy="14630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720840" y="3474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Частичное попадание в охранную зону ЛЭП</a:t>
            </a:r>
            <a:endParaRPr lang="en-US" sz="11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794760"/>
            <a:ext cx="146304" cy="14630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720840" y="37673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 собственности менее 3 лет</a:t>
            </a:r>
            <a:endParaRPr lang="en-US" sz="11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087368"/>
            <a:ext cx="146304" cy="14630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720840" y="40599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Уточнить наличие построек (нет в выписке)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446520" y="43982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90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700016"/>
            <a:ext cx="146304" cy="14630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720840" y="467258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Запросить сведения о ЗОУИТ из ИСОГД</a:t>
            </a:r>
            <a:endParaRPr lang="en-US" sz="11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992624"/>
            <a:ext cx="146304" cy="14630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720840" y="49651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продавца на банкротство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62179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AI-анализ возвращает структурированный риск-профиль за 30–120 секунд. С загрузкой PDF выписки время до 2 минут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Иллюстрация интерфейса PlotFinder. Полная демонстрация продукта в записанном видео и при защите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 в рамках выпускной квалификационной работы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РЕЗУЛЬТАТЫ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38528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MVP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Веб-сервис на Bubble.io + FastAPI + Selectel, доступен и проверяет реальные кадастры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0720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788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AI-архитектура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3063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Детерминированная предобработка + Qwen3-32B + устойчивый extract_json и fallback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7588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657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Глубокий анализ рынка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77240" y="3931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конкурентов проанализированы из двух независимых исследований, выявлена свободная ниша 1 000–5 000 ₽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4456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45262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Актуализированное ТЗ и backlog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77240" y="48006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страниц с цветной разметкой изменений, 13 пунктов backlog, дорожная карта на 2 года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21792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ПРОЕКТА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17920" y="192024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488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49440" y="2039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код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9494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accent5"/>
                </a:solidFill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https://github.com/AleksandrVNikolaev/plotfinder.git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22" name="Shape 15"/>
          <p:cNvSpPr/>
          <p:nvPr/>
        </p:nvSpPr>
        <p:spPr>
          <a:xfrm>
            <a:off x="6217920" y="278892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01752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49440" y="2907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Видео-демонстрация</a:t>
            </a: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основных функций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69494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https://drive.google.com/file/d/190EuahloIxts7CiC9IPpziTtsW_EdhVb/view?usp=sharing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26" name="Shape 18"/>
          <p:cNvSpPr/>
          <p:nvPr/>
        </p:nvSpPr>
        <p:spPr>
          <a:xfrm>
            <a:off x="6217920" y="3653028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886200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3776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Демо-стенд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69494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accent5"/>
                </a:solidFill>
                <a:hlinkClick r:id="rId9" invalidUrl="http://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sz="1100" dirty="0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aleksandrvnikolaev-22756.bubbleapps.io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30" name="Shape 21"/>
          <p:cNvSpPr/>
          <p:nvPr/>
        </p:nvSpPr>
        <p:spPr>
          <a:xfrm>
            <a:off x="6217920" y="4526280"/>
            <a:ext cx="5486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4754880"/>
            <a:ext cx="320040" cy="3200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49440" y="4645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задание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694944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https://drive.google.com/file/d/1XIGZ7mvA877CJZNSMc5ZIb8COeNRVNTx/view?usp=drive_link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34" name="Shape 24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5F5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25"/>
          <p:cNvSpPr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36" name="Text 26"/>
          <p:cNvSpPr/>
          <p:nvPr/>
        </p:nvSpPr>
        <p:spPr>
          <a:xfrm>
            <a:off x="457200" y="58521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 и провести интерактивную демонстрацию продукта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Николаев Александр · группа МЛИТЕХ 241 · НИУ ВШЭ · 2026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PlotFinder · ВКР НИУ ВШЭ 2026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338560" y="6537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3117</Words>
  <Application>Microsoft Office PowerPoint</Application>
  <PresentationFormat>Широкоэкранный</PresentationFormat>
  <Paragraphs>637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НИУ ВШЭ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PlotFinder — ВКР НИУ ВШЭ</dc:title>
  <dc:subject>PptxGenJS Presentation</dc:subject>
  <dc:creator>Николаев Александр Владиславович</dc:creator>
  <cp:lastModifiedBy>Office</cp:lastModifiedBy>
  <cp:revision>5</cp:revision>
  <dcterms:created xsi:type="dcterms:W3CDTF">2026-05-07T06:33:25Z</dcterms:created>
  <dcterms:modified xsi:type="dcterms:W3CDTF">2026-05-07T15:45:56Z</dcterms:modified>
</cp:coreProperties>
</file>